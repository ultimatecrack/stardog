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Common Cross-Platform Use Cases — Tutorial 1: Customer 360 / Master Data Management (Case Study, 15 min).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Common Cross-Platform Use Cases — Tutorial 2: Fraud &amp; Anomaly Detection (Case Study, 15 min).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Common Cross-Platform Use Cases — Tutorial 3: Recommendation Engines (Case Study, 12 min).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Common Cross-Platform Use Cases — Tutorial 4: Org &amp; Network Analysis (Case Study, 12 min).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Common Cross-Platform Use Cases — Tutorial 5: Metadata Management &amp; Data Lineage (Case Study, 12 min).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Common Cross-Platform Use Cases — Tutorial 6: Compliance &amp; Regulatory Knowledge Graphs (Case Study, 15 min).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3840480" cy="3840480"/>
          </a:xfrm>
          <a:prstGeom prst="ellipse">
            <a:avLst/>
          </a:prstGeom>
          <a:solidFill>
            <a:srgbClr val="C7DDBE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4846320"/>
            <a:ext cx="3108960" cy="3108960"/>
          </a:xfrm>
          <a:prstGeom prst="ellipse">
            <a:avLst/>
          </a:prstGeom>
          <a:solidFill>
            <a:srgbClr val="F9A826">
              <a:alpha val="2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371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9A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28800"/>
            <a:ext cx="9601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Cross-Platform Use Cases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20040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DD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problems solved with Neo4j and with Stardog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6035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DD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tutorials  •  Ontology &amp; Knowledge Graph Course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You'll Learn in This Module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325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078992" y="1280160"/>
            <a:ext cx="4892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360 / Master Data Management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263640" y="1325880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263640" y="1325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793992" y="1280160"/>
            <a:ext cx="4892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&amp; Anomaly Detection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167128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21671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78992" y="2121408"/>
            <a:ext cx="4892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Engines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63640" y="2167128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263640" y="21671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793992" y="2121408"/>
            <a:ext cx="4892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 &amp; Network Analysis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3008376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3008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078992" y="2962656"/>
            <a:ext cx="4892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Management &amp; Data Lineage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263640" y="3008376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263640" y="3008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793992" y="2962656"/>
            <a:ext cx="4892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&amp; Regulatory Knowledge Graphs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" cy="68580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54864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9A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73736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D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Cross-Platform Use Cases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5669280"/>
            <a:ext cx="1920240" cy="457200"/>
          </a:xfrm>
          <a:prstGeom prst="roundRect">
            <a:avLst>
              <a:gd name="adj" fmla="val 50000"/>
            </a:avLst>
          </a:prstGeom>
          <a:solidFill>
            <a:srgbClr val="F9A82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57200" y="56692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2179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D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3749040" y="548640"/>
            <a:ext cx="7955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360 / Master Data Management</a:t>
            </a:r>
            <a:endParaRPr lang="en-US" sz="2700" dirty="0"/>
          </a:p>
        </p:txBody>
      </p:sp>
      <p:sp>
        <p:nvSpPr>
          <p:cNvPr id="9" name="Text 7"/>
          <p:cNvSpPr txBox="1"/>
          <p:nvPr/>
        </p:nvSpPr>
        <p:spPr>
          <a:xfrm>
            <a:off x="3749040" y="1828800"/>
            <a:ext cx="795528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customer data lives in silos and how a graph unifies it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 entity resolution as graph matching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Stardog's ontology layer for canonical customer identity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 for real-time 360 lookups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-914400"/>
            <a:ext cx="2743200" cy="2743200"/>
          </a:xfrm>
          <a:prstGeom prst="ellipse">
            <a:avLst/>
          </a:prstGeom>
          <a:solidFill>
            <a:srgbClr val="C7DDBE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02920"/>
            <a:ext cx="1554480" cy="411480"/>
          </a:xfrm>
          <a:prstGeom prst="roundRect">
            <a:avLst>
              <a:gd name="adj" fmla="val 48889"/>
            </a:avLst>
          </a:prstGeom>
          <a:solidFill>
            <a:srgbClr val="2C5F2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5029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06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240280" y="502920"/>
            <a:ext cx="1828800" cy="411480"/>
          </a:xfrm>
          <a:prstGeom prst="roundRect">
            <a:avLst>
              <a:gd name="adj" fmla="val 48889"/>
            </a:avLst>
          </a:prstGeom>
          <a:solidFill>
            <a:srgbClr val="F6FAF4"/>
          </a:solidFill>
          <a:ln w="15875">
            <a:solidFill>
              <a:srgbClr val="F9A82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240280" y="5029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 •  15 min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14300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Fraud &amp; Anomaly Detection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548640" y="2331720"/>
            <a:ext cx="5303520" cy="3931920"/>
          </a:xfrm>
          <a:prstGeom prst="roundRect">
            <a:avLst>
              <a:gd name="adj" fmla="val 2791"/>
            </a:avLst>
          </a:prstGeom>
          <a:solidFill>
            <a:srgbClr val="F6FAF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2606040"/>
            <a:ext cx="46634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600"/>
              </a:spcAft>
              <a:buSzPct val="100000"/>
              <a:buChar char="▪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Shared-attribute fraud rings as graph patterns</a:t>
            </a:r>
            <a:endParaRPr lang="en-US" sz="1400" dirty="0"/>
          </a:p>
          <a:p>
            <a:pPr marL="203200" indent="-203200">
              <a:spcAft>
                <a:spcPts val="1600"/>
              </a:spcAft>
              <a:buSzPct val="100000"/>
              <a:buChar char="▪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 GDS algorithms for anomaly scoring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172200" y="2331720"/>
            <a:ext cx="5303520" cy="3931920"/>
          </a:xfrm>
          <a:prstGeom prst="roundRect">
            <a:avLst>
              <a:gd name="adj" fmla="val 2791"/>
            </a:avLst>
          </a:prstGeom>
          <a:solidFill>
            <a:srgbClr val="F6FAF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92240" y="2606040"/>
            <a:ext cx="46634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600"/>
              </a:spcAft>
              <a:buSzPct val="100000"/>
              <a:buChar char="▪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ontology-based reasoning adds explainability to fraud alerts</a:t>
            </a:r>
            <a:endParaRPr lang="en-US" sz="1400" dirty="0"/>
          </a:p>
          <a:p>
            <a:pPr marL="203200" indent="-203200">
              <a:spcAft>
                <a:spcPts val="1600"/>
              </a:spcAft>
              <a:buSzPct val="100000"/>
              <a:buChar char="▪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of the Module 2 fraud project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" cy="68580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54864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9A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73736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D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Cross-Platform Use Cases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5669280"/>
            <a:ext cx="1920240" cy="457200"/>
          </a:xfrm>
          <a:prstGeom prst="roundRect">
            <a:avLst>
              <a:gd name="adj" fmla="val 50000"/>
            </a:avLst>
          </a:prstGeom>
          <a:solidFill>
            <a:srgbClr val="F9A82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57200" y="56692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2179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D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min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3749040" y="548640"/>
            <a:ext cx="7955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 Engines</a:t>
            </a:r>
            <a:endParaRPr lang="en-US" sz="2700" dirty="0"/>
          </a:p>
        </p:txBody>
      </p:sp>
      <p:sp>
        <p:nvSpPr>
          <p:cNvPr id="9" name="Text 7"/>
          <p:cNvSpPr txBox="1"/>
          <p:nvPr/>
        </p:nvSpPr>
        <p:spPr>
          <a:xfrm>
            <a:off x="3749040" y="1828800"/>
            <a:ext cx="795528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Collaborative filtering as graph traversal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similarity and co-purchase patterns in Neo4j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recommendations using ontology-based similarity in Stardog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Hybrid: semantic filtering + graph-based ranking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-914400"/>
            <a:ext cx="2743200" cy="2743200"/>
          </a:xfrm>
          <a:prstGeom prst="ellipse">
            <a:avLst/>
          </a:prstGeom>
          <a:solidFill>
            <a:srgbClr val="C7DDBE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02920"/>
            <a:ext cx="1554480" cy="411480"/>
          </a:xfrm>
          <a:prstGeom prst="roundRect">
            <a:avLst>
              <a:gd name="adj" fmla="val 48889"/>
            </a:avLst>
          </a:prstGeom>
          <a:solidFill>
            <a:srgbClr val="2C5F2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5029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06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240280" y="502920"/>
            <a:ext cx="1828800" cy="411480"/>
          </a:xfrm>
          <a:prstGeom prst="roundRect">
            <a:avLst>
              <a:gd name="adj" fmla="val 48889"/>
            </a:avLst>
          </a:prstGeom>
          <a:solidFill>
            <a:srgbClr val="F6FAF4"/>
          </a:solidFill>
          <a:ln w="15875">
            <a:solidFill>
              <a:srgbClr val="F9A82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240280" y="5029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 •  12 min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14300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 &amp; Network Analysis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548640" y="2331720"/>
            <a:ext cx="5303520" cy="3931920"/>
          </a:xfrm>
          <a:prstGeom prst="roundRect">
            <a:avLst>
              <a:gd name="adj" fmla="val 2791"/>
            </a:avLst>
          </a:prstGeom>
          <a:solidFill>
            <a:srgbClr val="F6FAF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2606040"/>
            <a:ext cx="46634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600"/>
              </a:spcAft>
              <a:buSzPct val="100000"/>
              <a:buChar char="▪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 org charts, supply chains, and social graphs</a:t>
            </a:r>
            <a:endParaRPr lang="en-US" sz="1400" dirty="0"/>
          </a:p>
          <a:p>
            <a:pPr marL="203200" indent="-203200">
              <a:spcAft>
                <a:spcPts val="1600"/>
              </a:spcAft>
              <a:buSzPct val="100000"/>
              <a:buChar char="▪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Centrality measures to find key people or bottleneck suppliers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172200" y="2331720"/>
            <a:ext cx="5303520" cy="3931920"/>
          </a:xfrm>
          <a:prstGeom prst="roundRect">
            <a:avLst>
              <a:gd name="adj" fmla="val 2791"/>
            </a:avLst>
          </a:prstGeom>
          <a:solidFill>
            <a:srgbClr val="F6FAF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92240" y="2606040"/>
            <a:ext cx="46634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600"/>
              </a:spcAft>
              <a:buSzPct val="100000"/>
              <a:buChar char="▪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Ontology-driven supply-chain standards (e.g. GS1) in Stardog</a:t>
            </a:r>
            <a:endParaRPr lang="en-US" sz="1400" dirty="0"/>
          </a:p>
          <a:p>
            <a:pPr marL="203200" indent="-203200">
              <a:spcAft>
                <a:spcPts val="1600"/>
              </a:spcAft>
              <a:buSzPct val="100000"/>
              <a:buChar char="▪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Visualizing network structure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" cy="68580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54864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9A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73736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D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Cross-Platform Use Cases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5669280"/>
            <a:ext cx="1920240" cy="457200"/>
          </a:xfrm>
          <a:prstGeom prst="roundRect">
            <a:avLst>
              <a:gd name="adj" fmla="val 50000"/>
            </a:avLst>
          </a:prstGeom>
          <a:solidFill>
            <a:srgbClr val="F9A82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57200" y="56692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2179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D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min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3749040" y="548640"/>
            <a:ext cx="7955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Metadata Management &amp; Data Lineage</a:t>
            </a:r>
            <a:endParaRPr lang="en-US" sz="2700" dirty="0"/>
          </a:p>
        </p:txBody>
      </p:sp>
      <p:sp>
        <p:nvSpPr>
          <p:cNvPr id="9" name="Text 7"/>
          <p:cNvSpPr txBox="1"/>
          <p:nvPr/>
        </p:nvSpPr>
        <p:spPr>
          <a:xfrm>
            <a:off x="3749040" y="1828800"/>
            <a:ext cx="795528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catalogs as knowledge graphs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lineage: source to transformation to consumption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ontologies standardize metadata across tools and teams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 for lineage graph traversal and impact analysis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-914400"/>
            <a:ext cx="2743200" cy="2743200"/>
          </a:xfrm>
          <a:prstGeom prst="ellipse">
            <a:avLst/>
          </a:prstGeom>
          <a:solidFill>
            <a:srgbClr val="C7DDBE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02920"/>
            <a:ext cx="1554480" cy="411480"/>
          </a:xfrm>
          <a:prstGeom prst="roundRect">
            <a:avLst>
              <a:gd name="adj" fmla="val 48889"/>
            </a:avLst>
          </a:prstGeom>
          <a:solidFill>
            <a:srgbClr val="2C5F2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5029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06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240280" y="502920"/>
            <a:ext cx="1828800" cy="411480"/>
          </a:xfrm>
          <a:prstGeom prst="roundRect">
            <a:avLst>
              <a:gd name="adj" fmla="val 48889"/>
            </a:avLst>
          </a:prstGeom>
          <a:solidFill>
            <a:srgbClr val="F6FAF4"/>
          </a:solidFill>
          <a:ln w="15875">
            <a:solidFill>
              <a:srgbClr val="F9A82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240280" y="5029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 •  15 min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14300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Compliance &amp; Regulatory Knowledge Graphs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548640" y="2331720"/>
            <a:ext cx="5303520" cy="3931920"/>
          </a:xfrm>
          <a:prstGeom prst="roundRect">
            <a:avLst>
              <a:gd name="adj" fmla="val 2791"/>
            </a:avLst>
          </a:prstGeom>
          <a:solidFill>
            <a:srgbClr val="F6FAF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2606040"/>
            <a:ext cx="46634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600"/>
              </a:spcAft>
              <a:buSzPct val="100000"/>
              <a:buChar char="▪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regulated industries lean on formal semantics</a:t>
            </a:r>
            <a:endParaRPr lang="en-US" sz="1400" dirty="0"/>
          </a:p>
          <a:p>
            <a:pPr marL="203200" indent="-203200">
              <a:spcAft>
                <a:spcPts val="1600"/>
              </a:spcAft>
              <a:buSzPct val="100000"/>
              <a:buChar char="▪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interoperability: FHIR-to-RDF patterns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172200" y="2331720"/>
            <a:ext cx="5303520" cy="3931920"/>
          </a:xfrm>
          <a:prstGeom prst="roundRect">
            <a:avLst>
              <a:gd name="adj" fmla="val 2791"/>
            </a:avLst>
          </a:prstGeom>
          <a:solidFill>
            <a:srgbClr val="F6FAF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92240" y="2606040"/>
            <a:ext cx="46634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600"/>
              </a:spcAft>
              <a:buSzPct val="100000"/>
              <a:buChar char="▪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regulation graphs and audit trails</a:t>
            </a:r>
            <a:endParaRPr lang="en-US" sz="1400" dirty="0"/>
          </a:p>
          <a:p>
            <a:pPr marL="203200" indent="-203200">
              <a:spcAft>
                <a:spcPts val="1600"/>
              </a:spcAft>
              <a:buSzPct val="100000"/>
              <a:buChar char="▪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reasoning + SHACL validation matters for compliance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114800" cy="4114800"/>
          </a:xfrm>
          <a:prstGeom prst="ellipse">
            <a:avLst/>
          </a:prstGeom>
          <a:solidFill>
            <a:srgbClr val="F9A826">
              <a:alpha val="18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146304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Recap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7DD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covered 6 tutorials in "Common Cross-Platform Use Cases."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017520"/>
            <a:ext cx="73152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360 / Master Data Management</a:t>
            </a:r>
            <a:endParaRPr lang="en-US" sz="13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&amp; Anomaly Detection</a:t>
            </a:r>
            <a:endParaRPr lang="en-US" sz="13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Engines</a:t>
            </a:r>
            <a:endParaRPr lang="en-US" sz="13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 &amp; Network Analysis</a:t>
            </a:r>
            <a:endParaRPr lang="en-US" sz="13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Management &amp; Data Lineage</a:t>
            </a:r>
            <a:endParaRPr lang="en-US" sz="13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&amp; Regulatory Knowledge Graphs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2026-09-11T08:45:08Z</dcterms:created>
  <dcterms:modified xsi:type="dcterms:W3CDTF">2026-09-11T08:45:08Z</dcterms:modified>
</cp:coreProperties>
</file>